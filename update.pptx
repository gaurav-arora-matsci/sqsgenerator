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51"/>
  </p:normalViewPr>
  <p:slideViewPr>
    <p:cSldViewPr snapToGrid="0">
      <p:cViewPr>
        <p:scale>
          <a:sx n="111" d="100"/>
          <a:sy n="111" d="100"/>
        </p:scale>
        <p:origin x="82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66BE5-2880-6B03-7FA1-40CD9EAC49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90C37B-DCBC-3490-E24A-D4A4FBB3BE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470130-4834-2488-D9F5-16A53C3F3C37}"/>
              </a:ext>
            </a:extLst>
          </p:cNvPr>
          <p:cNvSpPr>
            <a:spLocks noGrp="1"/>
          </p:cNvSpPr>
          <p:nvPr>
            <p:ph type="dt" sz="half" idx="10"/>
          </p:nvPr>
        </p:nvSpPr>
        <p:spPr/>
        <p:txBody>
          <a:bodyPr/>
          <a:lstStyle/>
          <a:p>
            <a:fld id="{30BE597D-562D-BA4C-8DA8-4C55309A92CF}" type="datetimeFigureOut">
              <a:rPr lang="en-US" smtClean="0"/>
              <a:t>9/9/26</a:t>
            </a:fld>
            <a:endParaRPr lang="en-US"/>
          </a:p>
        </p:txBody>
      </p:sp>
      <p:sp>
        <p:nvSpPr>
          <p:cNvPr id="5" name="Footer Placeholder 4">
            <a:extLst>
              <a:ext uri="{FF2B5EF4-FFF2-40B4-BE49-F238E27FC236}">
                <a16:creationId xmlns:a16="http://schemas.microsoft.com/office/drawing/2014/main" id="{0F72BF63-BFCF-9CE1-8A53-D12E5A1AB9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135DDC-3CB1-5C4E-6E44-5AA3A5F45B96}"/>
              </a:ext>
            </a:extLst>
          </p:cNvPr>
          <p:cNvSpPr>
            <a:spLocks noGrp="1"/>
          </p:cNvSpPr>
          <p:nvPr>
            <p:ph type="sldNum" sz="quarter" idx="12"/>
          </p:nvPr>
        </p:nvSpPr>
        <p:spPr/>
        <p:txBody>
          <a:bodyPr/>
          <a:lstStyle/>
          <a:p>
            <a:fld id="{BE93891C-7FCF-F241-B07B-88A6B019BD66}" type="slidenum">
              <a:rPr lang="en-US" smtClean="0"/>
              <a:t>‹#›</a:t>
            </a:fld>
            <a:endParaRPr lang="en-US"/>
          </a:p>
        </p:txBody>
      </p:sp>
    </p:spTree>
    <p:extLst>
      <p:ext uri="{BB962C8B-B14F-4D97-AF65-F5344CB8AC3E}">
        <p14:creationId xmlns:p14="http://schemas.microsoft.com/office/powerpoint/2010/main" val="2789377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C586C-9CA3-A0DA-AE7D-0F8AFBB368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1E7718-CB07-8950-2F67-BB91409FF2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7B7C7F-7429-4B9A-CC9F-76D63E0ED963}"/>
              </a:ext>
            </a:extLst>
          </p:cNvPr>
          <p:cNvSpPr>
            <a:spLocks noGrp="1"/>
          </p:cNvSpPr>
          <p:nvPr>
            <p:ph type="dt" sz="half" idx="10"/>
          </p:nvPr>
        </p:nvSpPr>
        <p:spPr/>
        <p:txBody>
          <a:bodyPr/>
          <a:lstStyle/>
          <a:p>
            <a:fld id="{30BE597D-562D-BA4C-8DA8-4C55309A92CF}" type="datetimeFigureOut">
              <a:rPr lang="en-US" smtClean="0"/>
              <a:t>9/9/26</a:t>
            </a:fld>
            <a:endParaRPr lang="en-US"/>
          </a:p>
        </p:txBody>
      </p:sp>
      <p:sp>
        <p:nvSpPr>
          <p:cNvPr id="5" name="Footer Placeholder 4">
            <a:extLst>
              <a:ext uri="{FF2B5EF4-FFF2-40B4-BE49-F238E27FC236}">
                <a16:creationId xmlns:a16="http://schemas.microsoft.com/office/drawing/2014/main" id="{F564776C-4404-B2C1-7983-3E6555C13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3EF536-5D86-7FE7-0C6B-31820747A588}"/>
              </a:ext>
            </a:extLst>
          </p:cNvPr>
          <p:cNvSpPr>
            <a:spLocks noGrp="1"/>
          </p:cNvSpPr>
          <p:nvPr>
            <p:ph type="sldNum" sz="quarter" idx="12"/>
          </p:nvPr>
        </p:nvSpPr>
        <p:spPr/>
        <p:txBody>
          <a:bodyPr/>
          <a:lstStyle/>
          <a:p>
            <a:fld id="{BE93891C-7FCF-F241-B07B-88A6B019BD66}" type="slidenum">
              <a:rPr lang="en-US" smtClean="0"/>
              <a:t>‹#›</a:t>
            </a:fld>
            <a:endParaRPr lang="en-US"/>
          </a:p>
        </p:txBody>
      </p:sp>
    </p:spTree>
    <p:extLst>
      <p:ext uri="{BB962C8B-B14F-4D97-AF65-F5344CB8AC3E}">
        <p14:creationId xmlns:p14="http://schemas.microsoft.com/office/powerpoint/2010/main" val="405555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A8C-00EC-0550-895A-01A8472E94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CFEFC2-04AA-75CB-9C40-A1987E412D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887B1-9D53-5674-7BDF-43033478AF9F}"/>
              </a:ext>
            </a:extLst>
          </p:cNvPr>
          <p:cNvSpPr>
            <a:spLocks noGrp="1"/>
          </p:cNvSpPr>
          <p:nvPr>
            <p:ph type="dt" sz="half" idx="10"/>
          </p:nvPr>
        </p:nvSpPr>
        <p:spPr/>
        <p:txBody>
          <a:bodyPr/>
          <a:lstStyle/>
          <a:p>
            <a:fld id="{30BE597D-562D-BA4C-8DA8-4C55309A92CF}" type="datetimeFigureOut">
              <a:rPr lang="en-US" smtClean="0"/>
              <a:t>9/9/26</a:t>
            </a:fld>
            <a:endParaRPr lang="en-US"/>
          </a:p>
        </p:txBody>
      </p:sp>
      <p:sp>
        <p:nvSpPr>
          <p:cNvPr id="5" name="Footer Placeholder 4">
            <a:extLst>
              <a:ext uri="{FF2B5EF4-FFF2-40B4-BE49-F238E27FC236}">
                <a16:creationId xmlns:a16="http://schemas.microsoft.com/office/drawing/2014/main" id="{60EDF5C2-2677-2320-BAA1-F9E2565C87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20E710-D096-29E4-EC79-F54837358339}"/>
              </a:ext>
            </a:extLst>
          </p:cNvPr>
          <p:cNvSpPr>
            <a:spLocks noGrp="1"/>
          </p:cNvSpPr>
          <p:nvPr>
            <p:ph type="sldNum" sz="quarter" idx="12"/>
          </p:nvPr>
        </p:nvSpPr>
        <p:spPr/>
        <p:txBody>
          <a:bodyPr/>
          <a:lstStyle/>
          <a:p>
            <a:fld id="{BE93891C-7FCF-F241-B07B-88A6B019BD66}" type="slidenum">
              <a:rPr lang="en-US" smtClean="0"/>
              <a:t>‹#›</a:t>
            </a:fld>
            <a:endParaRPr lang="en-US"/>
          </a:p>
        </p:txBody>
      </p:sp>
    </p:spTree>
    <p:extLst>
      <p:ext uri="{BB962C8B-B14F-4D97-AF65-F5344CB8AC3E}">
        <p14:creationId xmlns:p14="http://schemas.microsoft.com/office/powerpoint/2010/main" val="3090893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196CD-CD4F-B547-F483-AE36B619A5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C8601E-EB16-4702-AC5B-120309BDC4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3F5247-93FD-5C95-1ECF-FD98F6E69B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A7F1FC-9FD1-423E-840F-7CFE5E12961D}"/>
              </a:ext>
            </a:extLst>
          </p:cNvPr>
          <p:cNvSpPr>
            <a:spLocks noGrp="1"/>
          </p:cNvSpPr>
          <p:nvPr>
            <p:ph type="dt" sz="half" idx="10"/>
          </p:nvPr>
        </p:nvSpPr>
        <p:spPr/>
        <p:txBody>
          <a:bodyPr/>
          <a:lstStyle/>
          <a:p>
            <a:fld id="{30BE597D-562D-BA4C-8DA8-4C55309A92CF}" type="datetimeFigureOut">
              <a:rPr lang="en-US" smtClean="0"/>
              <a:t>9/9/26</a:t>
            </a:fld>
            <a:endParaRPr lang="en-US"/>
          </a:p>
        </p:txBody>
      </p:sp>
      <p:sp>
        <p:nvSpPr>
          <p:cNvPr id="6" name="Footer Placeholder 5">
            <a:extLst>
              <a:ext uri="{FF2B5EF4-FFF2-40B4-BE49-F238E27FC236}">
                <a16:creationId xmlns:a16="http://schemas.microsoft.com/office/drawing/2014/main" id="{874182FA-D637-A3F1-6853-19636DA6D0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3E5055-8BF9-8A11-C406-EEDEA1BE8089}"/>
              </a:ext>
            </a:extLst>
          </p:cNvPr>
          <p:cNvSpPr>
            <a:spLocks noGrp="1"/>
          </p:cNvSpPr>
          <p:nvPr>
            <p:ph type="sldNum" sz="quarter" idx="12"/>
          </p:nvPr>
        </p:nvSpPr>
        <p:spPr/>
        <p:txBody>
          <a:bodyPr/>
          <a:lstStyle/>
          <a:p>
            <a:fld id="{BE93891C-7FCF-F241-B07B-88A6B019BD66}" type="slidenum">
              <a:rPr lang="en-US" smtClean="0"/>
              <a:t>‹#›</a:t>
            </a:fld>
            <a:endParaRPr lang="en-US"/>
          </a:p>
        </p:txBody>
      </p:sp>
    </p:spTree>
    <p:extLst>
      <p:ext uri="{BB962C8B-B14F-4D97-AF65-F5344CB8AC3E}">
        <p14:creationId xmlns:p14="http://schemas.microsoft.com/office/powerpoint/2010/main" val="2505871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C1477-7286-3866-E3C5-075402B0B1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2CC71B-E65C-3628-4FB6-33A9F1C10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B25BEE-38A9-F82B-1B34-FCADC68411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76D3B8C-6171-C313-8526-589DBA0653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900FC5-C5D5-A33C-6EA1-CFD66F2060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359E62-3DB2-B9FD-2DCE-CCAB7E4AFEB1}"/>
              </a:ext>
            </a:extLst>
          </p:cNvPr>
          <p:cNvSpPr>
            <a:spLocks noGrp="1"/>
          </p:cNvSpPr>
          <p:nvPr>
            <p:ph type="dt" sz="half" idx="10"/>
          </p:nvPr>
        </p:nvSpPr>
        <p:spPr/>
        <p:txBody>
          <a:bodyPr/>
          <a:lstStyle/>
          <a:p>
            <a:fld id="{30BE597D-562D-BA4C-8DA8-4C55309A92CF}" type="datetimeFigureOut">
              <a:rPr lang="en-US" smtClean="0"/>
              <a:t>9/9/26</a:t>
            </a:fld>
            <a:endParaRPr lang="en-US"/>
          </a:p>
        </p:txBody>
      </p:sp>
      <p:sp>
        <p:nvSpPr>
          <p:cNvPr id="8" name="Footer Placeholder 7">
            <a:extLst>
              <a:ext uri="{FF2B5EF4-FFF2-40B4-BE49-F238E27FC236}">
                <a16:creationId xmlns:a16="http://schemas.microsoft.com/office/drawing/2014/main" id="{E21AF265-148F-FF81-ADCA-A18CF0D3D8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3E76A9-FD7E-B30C-56A3-DBA46C6F78CB}"/>
              </a:ext>
            </a:extLst>
          </p:cNvPr>
          <p:cNvSpPr>
            <a:spLocks noGrp="1"/>
          </p:cNvSpPr>
          <p:nvPr>
            <p:ph type="sldNum" sz="quarter" idx="12"/>
          </p:nvPr>
        </p:nvSpPr>
        <p:spPr/>
        <p:txBody>
          <a:bodyPr/>
          <a:lstStyle/>
          <a:p>
            <a:fld id="{BE93891C-7FCF-F241-B07B-88A6B019BD66}" type="slidenum">
              <a:rPr lang="en-US" smtClean="0"/>
              <a:t>‹#›</a:t>
            </a:fld>
            <a:endParaRPr lang="en-US"/>
          </a:p>
        </p:txBody>
      </p:sp>
    </p:spTree>
    <p:extLst>
      <p:ext uri="{BB962C8B-B14F-4D97-AF65-F5344CB8AC3E}">
        <p14:creationId xmlns:p14="http://schemas.microsoft.com/office/powerpoint/2010/main" val="3928462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2EB2E-8AFD-A2AD-963B-9DF56EAE8F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9C21F0-50BB-AD7C-8122-26B739FF5B67}"/>
              </a:ext>
            </a:extLst>
          </p:cNvPr>
          <p:cNvSpPr>
            <a:spLocks noGrp="1"/>
          </p:cNvSpPr>
          <p:nvPr>
            <p:ph type="dt" sz="half" idx="10"/>
          </p:nvPr>
        </p:nvSpPr>
        <p:spPr/>
        <p:txBody>
          <a:bodyPr/>
          <a:lstStyle/>
          <a:p>
            <a:fld id="{30BE597D-562D-BA4C-8DA8-4C55309A92CF}" type="datetimeFigureOut">
              <a:rPr lang="en-US" smtClean="0"/>
              <a:t>9/9/26</a:t>
            </a:fld>
            <a:endParaRPr lang="en-US"/>
          </a:p>
        </p:txBody>
      </p:sp>
      <p:sp>
        <p:nvSpPr>
          <p:cNvPr id="4" name="Footer Placeholder 3">
            <a:extLst>
              <a:ext uri="{FF2B5EF4-FFF2-40B4-BE49-F238E27FC236}">
                <a16:creationId xmlns:a16="http://schemas.microsoft.com/office/drawing/2014/main" id="{A008528E-BAA1-8855-D6A0-132EA38D87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F68931-4489-FA5D-17E5-E798C512131B}"/>
              </a:ext>
            </a:extLst>
          </p:cNvPr>
          <p:cNvSpPr>
            <a:spLocks noGrp="1"/>
          </p:cNvSpPr>
          <p:nvPr>
            <p:ph type="sldNum" sz="quarter" idx="12"/>
          </p:nvPr>
        </p:nvSpPr>
        <p:spPr/>
        <p:txBody>
          <a:bodyPr/>
          <a:lstStyle/>
          <a:p>
            <a:fld id="{BE93891C-7FCF-F241-B07B-88A6B019BD66}" type="slidenum">
              <a:rPr lang="en-US" smtClean="0"/>
              <a:t>‹#›</a:t>
            </a:fld>
            <a:endParaRPr lang="en-US"/>
          </a:p>
        </p:txBody>
      </p:sp>
    </p:spTree>
    <p:extLst>
      <p:ext uri="{BB962C8B-B14F-4D97-AF65-F5344CB8AC3E}">
        <p14:creationId xmlns:p14="http://schemas.microsoft.com/office/powerpoint/2010/main" val="1727202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76C08D-882C-9951-0329-EBAB937F8D02}"/>
              </a:ext>
            </a:extLst>
          </p:cNvPr>
          <p:cNvSpPr>
            <a:spLocks noGrp="1"/>
          </p:cNvSpPr>
          <p:nvPr>
            <p:ph type="dt" sz="half" idx="10"/>
          </p:nvPr>
        </p:nvSpPr>
        <p:spPr/>
        <p:txBody>
          <a:bodyPr/>
          <a:lstStyle/>
          <a:p>
            <a:fld id="{30BE597D-562D-BA4C-8DA8-4C55309A92CF}" type="datetimeFigureOut">
              <a:rPr lang="en-US" smtClean="0"/>
              <a:t>9/9/26</a:t>
            </a:fld>
            <a:endParaRPr lang="en-US"/>
          </a:p>
        </p:txBody>
      </p:sp>
      <p:sp>
        <p:nvSpPr>
          <p:cNvPr id="3" name="Footer Placeholder 2">
            <a:extLst>
              <a:ext uri="{FF2B5EF4-FFF2-40B4-BE49-F238E27FC236}">
                <a16:creationId xmlns:a16="http://schemas.microsoft.com/office/drawing/2014/main" id="{27FE3F49-D6B7-5A12-F3B5-0AC4A94769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45A7A2E-284A-76CE-DC57-6FC74D4C62F2}"/>
              </a:ext>
            </a:extLst>
          </p:cNvPr>
          <p:cNvSpPr>
            <a:spLocks noGrp="1"/>
          </p:cNvSpPr>
          <p:nvPr>
            <p:ph type="sldNum" sz="quarter" idx="12"/>
          </p:nvPr>
        </p:nvSpPr>
        <p:spPr/>
        <p:txBody>
          <a:bodyPr/>
          <a:lstStyle/>
          <a:p>
            <a:fld id="{BE93891C-7FCF-F241-B07B-88A6B019BD66}" type="slidenum">
              <a:rPr lang="en-US" smtClean="0"/>
              <a:t>‹#›</a:t>
            </a:fld>
            <a:endParaRPr lang="en-US"/>
          </a:p>
        </p:txBody>
      </p:sp>
    </p:spTree>
    <p:extLst>
      <p:ext uri="{BB962C8B-B14F-4D97-AF65-F5344CB8AC3E}">
        <p14:creationId xmlns:p14="http://schemas.microsoft.com/office/powerpoint/2010/main" val="3339225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B8F39-A6D1-BF90-DF0B-B1F9D94BC8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06D8BB-2BDC-4E4C-92F9-169213B657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0FD67E-5BF2-F044-1CEA-BB8B0422C2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98CAE-E458-EC57-52BB-335F4A0A757E}"/>
              </a:ext>
            </a:extLst>
          </p:cNvPr>
          <p:cNvSpPr>
            <a:spLocks noGrp="1"/>
          </p:cNvSpPr>
          <p:nvPr>
            <p:ph type="dt" sz="half" idx="10"/>
          </p:nvPr>
        </p:nvSpPr>
        <p:spPr/>
        <p:txBody>
          <a:bodyPr/>
          <a:lstStyle/>
          <a:p>
            <a:fld id="{30BE597D-562D-BA4C-8DA8-4C55309A92CF}" type="datetimeFigureOut">
              <a:rPr lang="en-US" smtClean="0"/>
              <a:t>9/9/26</a:t>
            </a:fld>
            <a:endParaRPr lang="en-US"/>
          </a:p>
        </p:txBody>
      </p:sp>
      <p:sp>
        <p:nvSpPr>
          <p:cNvPr id="6" name="Footer Placeholder 5">
            <a:extLst>
              <a:ext uri="{FF2B5EF4-FFF2-40B4-BE49-F238E27FC236}">
                <a16:creationId xmlns:a16="http://schemas.microsoft.com/office/drawing/2014/main" id="{F23394F3-A4F6-D244-B07E-4158698FAB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86E7C8-1E09-E524-4795-E7E2A2DA9494}"/>
              </a:ext>
            </a:extLst>
          </p:cNvPr>
          <p:cNvSpPr>
            <a:spLocks noGrp="1"/>
          </p:cNvSpPr>
          <p:nvPr>
            <p:ph type="sldNum" sz="quarter" idx="12"/>
          </p:nvPr>
        </p:nvSpPr>
        <p:spPr/>
        <p:txBody>
          <a:bodyPr/>
          <a:lstStyle/>
          <a:p>
            <a:fld id="{BE93891C-7FCF-F241-B07B-88A6B019BD66}" type="slidenum">
              <a:rPr lang="en-US" smtClean="0"/>
              <a:t>‹#›</a:t>
            </a:fld>
            <a:endParaRPr lang="en-US"/>
          </a:p>
        </p:txBody>
      </p:sp>
    </p:spTree>
    <p:extLst>
      <p:ext uri="{BB962C8B-B14F-4D97-AF65-F5344CB8AC3E}">
        <p14:creationId xmlns:p14="http://schemas.microsoft.com/office/powerpoint/2010/main" val="3934041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9503C-4AEB-912E-E0EA-EBD5DBD63E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1B70AB-E489-5C34-E695-B3223629A2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7E9043-E6C2-F9C7-36AE-7542DF6A6B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09954-44D1-82A4-3EDD-0F78765721EA}"/>
              </a:ext>
            </a:extLst>
          </p:cNvPr>
          <p:cNvSpPr>
            <a:spLocks noGrp="1"/>
          </p:cNvSpPr>
          <p:nvPr>
            <p:ph type="dt" sz="half" idx="10"/>
          </p:nvPr>
        </p:nvSpPr>
        <p:spPr/>
        <p:txBody>
          <a:bodyPr/>
          <a:lstStyle/>
          <a:p>
            <a:fld id="{30BE597D-562D-BA4C-8DA8-4C55309A92CF}" type="datetimeFigureOut">
              <a:rPr lang="en-US" smtClean="0"/>
              <a:t>9/9/26</a:t>
            </a:fld>
            <a:endParaRPr lang="en-US"/>
          </a:p>
        </p:txBody>
      </p:sp>
      <p:sp>
        <p:nvSpPr>
          <p:cNvPr id="6" name="Footer Placeholder 5">
            <a:extLst>
              <a:ext uri="{FF2B5EF4-FFF2-40B4-BE49-F238E27FC236}">
                <a16:creationId xmlns:a16="http://schemas.microsoft.com/office/drawing/2014/main" id="{B9EB7349-4E7F-692E-10B5-865E33AD7F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A5FE0A-556B-14E0-96EE-23F61C170035}"/>
              </a:ext>
            </a:extLst>
          </p:cNvPr>
          <p:cNvSpPr>
            <a:spLocks noGrp="1"/>
          </p:cNvSpPr>
          <p:nvPr>
            <p:ph type="sldNum" sz="quarter" idx="12"/>
          </p:nvPr>
        </p:nvSpPr>
        <p:spPr/>
        <p:txBody>
          <a:bodyPr/>
          <a:lstStyle/>
          <a:p>
            <a:fld id="{BE93891C-7FCF-F241-B07B-88A6B019BD66}" type="slidenum">
              <a:rPr lang="en-US" smtClean="0"/>
              <a:t>‹#›</a:t>
            </a:fld>
            <a:endParaRPr lang="en-US"/>
          </a:p>
        </p:txBody>
      </p:sp>
    </p:spTree>
    <p:extLst>
      <p:ext uri="{BB962C8B-B14F-4D97-AF65-F5344CB8AC3E}">
        <p14:creationId xmlns:p14="http://schemas.microsoft.com/office/powerpoint/2010/main" val="1162409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937F8-6843-9F5A-5242-75843F438E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6547B7-7AD5-ED01-6FE2-C5590EDD2C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3B03DF-AA4C-2828-5A82-B4E2AA9CDA7B}"/>
              </a:ext>
            </a:extLst>
          </p:cNvPr>
          <p:cNvSpPr>
            <a:spLocks noGrp="1"/>
          </p:cNvSpPr>
          <p:nvPr>
            <p:ph type="dt" sz="half" idx="10"/>
          </p:nvPr>
        </p:nvSpPr>
        <p:spPr/>
        <p:txBody>
          <a:bodyPr/>
          <a:lstStyle/>
          <a:p>
            <a:fld id="{30BE597D-562D-BA4C-8DA8-4C55309A92CF}" type="datetimeFigureOut">
              <a:rPr lang="en-US" smtClean="0"/>
              <a:t>9/9/26</a:t>
            </a:fld>
            <a:endParaRPr lang="en-US"/>
          </a:p>
        </p:txBody>
      </p:sp>
      <p:sp>
        <p:nvSpPr>
          <p:cNvPr id="5" name="Footer Placeholder 4">
            <a:extLst>
              <a:ext uri="{FF2B5EF4-FFF2-40B4-BE49-F238E27FC236}">
                <a16:creationId xmlns:a16="http://schemas.microsoft.com/office/drawing/2014/main" id="{0DF11DF5-DA08-773C-716D-1647C86AC0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BC2D5A-00A1-EF54-23A9-7406E17FB365}"/>
              </a:ext>
            </a:extLst>
          </p:cNvPr>
          <p:cNvSpPr>
            <a:spLocks noGrp="1"/>
          </p:cNvSpPr>
          <p:nvPr>
            <p:ph type="sldNum" sz="quarter" idx="12"/>
          </p:nvPr>
        </p:nvSpPr>
        <p:spPr/>
        <p:txBody>
          <a:bodyPr/>
          <a:lstStyle/>
          <a:p>
            <a:fld id="{BE93891C-7FCF-F241-B07B-88A6B019BD66}" type="slidenum">
              <a:rPr lang="en-US" smtClean="0"/>
              <a:t>‹#›</a:t>
            </a:fld>
            <a:endParaRPr lang="en-US"/>
          </a:p>
        </p:txBody>
      </p:sp>
    </p:spTree>
    <p:extLst>
      <p:ext uri="{BB962C8B-B14F-4D97-AF65-F5344CB8AC3E}">
        <p14:creationId xmlns:p14="http://schemas.microsoft.com/office/powerpoint/2010/main" val="975682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0FFAA6-3D8B-BE81-D05B-219769071D8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B865B1-60A8-3552-14D9-BFC06B5C10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AEBB5E-8F13-8ED5-8E62-1BD29504B584}"/>
              </a:ext>
            </a:extLst>
          </p:cNvPr>
          <p:cNvSpPr>
            <a:spLocks noGrp="1"/>
          </p:cNvSpPr>
          <p:nvPr>
            <p:ph type="dt" sz="half" idx="10"/>
          </p:nvPr>
        </p:nvSpPr>
        <p:spPr/>
        <p:txBody>
          <a:bodyPr/>
          <a:lstStyle/>
          <a:p>
            <a:fld id="{30BE597D-562D-BA4C-8DA8-4C55309A92CF}" type="datetimeFigureOut">
              <a:rPr lang="en-US" smtClean="0"/>
              <a:t>9/9/26</a:t>
            </a:fld>
            <a:endParaRPr lang="en-US"/>
          </a:p>
        </p:txBody>
      </p:sp>
      <p:sp>
        <p:nvSpPr>
          <p:cNvPr id="5" name="Footer Placeholder 4">
            <a:extLst>
              <a:ext uri="{FF2B5EF4-FFF2-40B4-BE49-F238E27FC236}">
                <a16:creationId xmlns:a16="http://schemas.microsoft.com/office/drawing/2014/main" id="{BA84D5B6-441C-14CB-375F-C2F3E7A0E1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650E9A-B366-5C91-1451-520C0D81AAF0}"/>
              </a:ext>
            </a:extLst>
          </p:cNvPr>
          <p:cNvSpPr>
            <a:spLocks noGrp="1"/>
          </p:cNvSpPr>
          <p:nvPr>
            <p:ph type="sldNum" sz="quarter" idx="12"/>
          </p:nvPr>
        </p:nvSpPr>
        <p:spPr/>
        <p:txBody>
          <a:bodyPr/>
          <a:lstStyle/>
          <a:p>
            <a:fld id="{BE93891C-7FCF-F241-B07B-88A6B019BD66}" type="slidenum">
              <a:rPr lang="en-US" smtClean="0"/>
              <a:t>‹#›</a:t>
            </a:fld>
            <a:endParaRPr lang="en-US"/>
          </a:p>
        </p:txBody>
      </p:sp>
    </p:spTree>
    <p:extLst>
      <p:ext uri="{BB962C8B-B14F-4D97-AF65-F5344CB8AC3E}">
        <p14:creationId xmlns:p14="http://schemas.microsoft.com/office/powerpoint/2010/main" val="3482701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0724FE-21FF-5BA3-1112-53AC936A68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C4C7CD-B9AC-86A9-891C-B85E75AC73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DDF54D-2616-BDB3-B19B-BBBF0571DD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BE597D-562D-BA4C-8DA8-4C55309A92CF}" type="datetimeFigureOut">
              <a:rPr lang="en-US" smtClean="0"/>
              <a:t>9/9/26</a:t>
            </a:fld>
            <a:endParaRPr lang="en-US"/>
          </a:p>
        </p:txBody>
      </p:sp>
      <p:sp>
        <p:nvSpPr>
          <p:cNvPr id="5" name="Footer Placeholder 4">
            <a:extLst>
              <a:ext uri="{FF2B5EF4-FFF2-40B4-BE49-F238E27FC236}">
                <a16:creationId xmlns:a16="http://schemas.microsoft.com/office/drawing/2014/main" id="{32C8ABBD-3486-A7C1-C4DF-DFA62579E4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2460A96-292D-1EFD-B561-656FFB8EA2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93891C-7FCF-F241-B07B-88A6B019BD66}" type="slidenum">
              <a:rPr lang="en-US" smtClean="0"/>
              <a:t>‹#›</a:t>
            </a:fld>
            <a:endParaRPr lang="en-US"/>
          </a:p>
        </p:txBody>
      </p:sp>
    </p:spTree>
    <p:extLst>
      <p:ext uri="{BB962C8B-B14F-4D97-AF65-F5344CB8AC3E}">
        <p14:creationId xmlns:p14="http://schemas.microsoft.com/office/powerpoint/2010/main" val="1732077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B8BD53-7888-6C16-0B8F-82FBC33F6E1A}"/>
              </a:ext>
            </a:extLst>
          </p:cNvPr>
          <p:cNvSpPr txBox="1"/>
          <p:nvPr/>
        </p:nvSpPr>
        <p:spPr>
          <a:xfrm>
            <a:off x="1501374" y="122662"/>
            <a:ext cx="9189247" cy="1200329"/>
          </a:xfrm>
          <a:prstGeom prst="rect">
            <a:avLst/>
          </a:prstGeom>
          <a:noFill/>
        </p:spPr>
        <p:txBody>
          <a:bodyPr wrap="none" rtlCol="0">
            <a:spAutoFit/>
          </a:bodyPr>
          <a:lstStyle/>
          <a:p>
            <a:r>
              <a:rPr lang="en-US" sz="7200" dirty="0"/>
              <a:t>SQS generator website</a:t>
            </a:r>
          </a:p>
        </p:txBody>
      </p:sp>
      <p:sp>
        <p:nvSpPr>
          <p:cNvPr id="5" name="TextBox 4">
            <a:extLst>
              <a:ext uri="{FF2B5EF4-FFF2-40B4-BE49-F238E27FC236}">
                <a16:creationId xmlns:a16="http://schemas.microsoft.com/office/drawing/2014/main" id="{351109A8-76E3-7D22-3CBC-ECD04FE1F992}"/>
              </a:ext>
            </a:extLst>
          </p:cNvPr>
          <p:cNvSpPr txBox="1"/>
          <p:nvPr/>
        </p:nvSpPr>
        <p:spPr>
          <a:xfrm>
            <a:off x="135670" y="1322991"/>
            <a:ext cx="11920654" cy="4893647"/>
          </a:xfrm>
          <a:prstGeom prst="rect">
            <a:avLst/>
          </a:prstGeom>
          <a:noFill/>
        </p:spPr>
        <p:txBody>
          <a:bodyPr wrap="square" rtlCol="0">
            <a:spAutoFit/>
          </a:bodyPr>
          <a:lstStyle/>
          <a:p>
            <a:r>
              <a:rPr lang="en-US" sz="2400" dirty="0"/>
              <a:t>A site for building special </a:t>
            </a:r>
            <a:r>
              <a:rPr lang="en-US" sz="2400" dirty="0" err="1"/>
              <a:t>quasirandom</a:t>
            </a:r>
            <a:r>
              <a:rPr lang="en-US" sz="2400" dirty="0"/>
              <a:t> structures on BCC and FCC lattices.</a:t>
            </a:r>
          </a:p>
          <a:p>
            <a:r>
              <a:rPr lang="en-US" sz="2400" dirty="0"/>
              <a:t>You either fill the form yourself or paste your own Anthropic API key and describe the structure in a sentence, which costs about one tenth of a US cent per request. The model only fills the boxes. You check them and press Build.</a:t>
            </a:r>
          </a:p>
          <a:p>
            <a:r>
              <a:rPr lang="en-US" sz="2400" dirty="0"/>
              <a:t>Each build returns a POSCAR and a report. The report gives the Warren Cowley parameters shell by shell, and the atom counts you actually got after rounding onto a finite number of sites.</a:t>
            </a:r>
          </a:p>
          <a:p>
            <a:r>
              <a:rPr lang="en-US" sz="2400" dirty="0"/>
              <a:t>Before the search starts, the code measures 20 plain random configurations in the same cell at the same composition. The final objective is reported against those numbers, because the raw value depends on cell size and composition and means little on its own.</a:t>
            </a:r>
          </a:p>
          <a:p>
            <a:r>
              <a:rPr lang="en-US" sz="2400" dirty="0"/>
              <a:t>Every build carries a short random id, written into the POSCAR comment and the report header, so a structure and its report can be matched later. The site itself stores nothing.</a:t>
            </a:r>
          </a:p>
          <a:p>
            <a:endParaRPr lang="en-US" sz="2400" dirty="0"/>
          </a:p>
        </p:txBody>
      </p:sp>
      <p:sp>
        <p:nvSpPr>
          <p:cNvPr id="6" name="TextBox 5">
            <a:extLst>
              <a:ext uri="{FF2B5EF4-FFF2-40B4-BE49-F238E27FC236}">
                <a16:creationId xmlns:a16="http://schemas.microsoft.com/office/drawing/2014/main" id="{F04F2322-B600-5683-5F65-DDDAB8862011}"/>
              </a:ext>
            </a:extLst>
          </p:cNvPr>
          <p:cNvSpPr txBox="1"/>
          <p:nvPr/>
        </p:nvSpPr>
        <p:spPr>
          <a:xfrm>
            <a:off x="10723328" y="6488668"/>
            <a:ext cx="1468672" cy="369332"/>
          </a:xfrm>
          <a:prstGeom prst="rect">
            <a:avLst/>
          </a:prstGeom>
          <a:noFill/>
        </p:spPr>
        <p:txBody>
          <a:bodyPr wrap="none" rtlCol="0">
            <a:spAutoFit/>
          </a:bodyPr>
          <a:lstStyle/>
          <a:p>
            <a:r>
              <a:rPr lang="en-US" dirty="0"/>
              <a:t>9</a:t>
            </a:r>
            <a:r>
              <a:rPr lang="en-US" baseline="30000" dirty="0"/>
              <a:t>th</a:t>
            </a:r>
            <a:r>
              <a:rPr lang="en-US" dirty="0"/>
              <a:t> sept 2026</a:t>
            </a:r>
          </a:p>
        </p:txBody>
      </p:sp>
      <p:sp>
        <p:nvSpPr>
          <p:cNvPr id="9" name="TextBox 8">
            <a:extLst>
              <a:ext uri="{FF2B5EF4-FFF2-40B4-BE49-F238E27FC236}">
                <a16:creationId xmlns:a16="http://schemas.microsoft.com/office/drawing/2014/main" id="{A45C4D97-E573-FB59-52DE-3A1A8EBA9BEB}"/>
              </a:ext>
            </a:extLst>
          </p:cNvPr>
          <p:cNvSpPr txBox="1"/>
          <p:nvPr/>
        </p:nvSpPr>
        <p:spPr>
          <a:xfrm>
            <a:off x="135670" y="6334780"/>
            <a:ext cx="8806065" cy="523220"/>
          </a:xfrm>
          <a:prstGeom prst="rect">
            <a:avLst/>
          </a:prstGeom>
          <a:noFill/>
        </p:spPr>
        <p:txBody>
          <a:bodyPr wrap="none" rtlCol="0">
            <a:spAutoFit/>
          </a:bodyPr>
          <a:lstStyle/>
          <a:p>
            <a:r>
              <a:rPr lang="en-US" sz="2800" dirty="0">
                <a:solidFill>
                  <a:schemeClr val="accent1"/>
                </a:solidFill>
              </a:rPr>
              <a:t>https://sqs-builder-352776563610.us-central1.run.app/</a:t>
            </a:r>
          </a:p>
        </p:txBody>
      </p:sp>
    </p:spTree>
    <p:extLst>
      <p:ext uri="{BB962C8B-B14F-4D97-AF65-F5344CB8AC3E}">
        <p14:creationId xmlns:p14="http://schemas.microsoft.com/office/powerpoint/2010/main" val="208217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5916BAA-F2A0-C628-5662-39A1C0BEB4D7}"/>
              </a:ext>
            </a:extLst>
          </p:cNvPr>
          <p:cNvSpPr txBox="1"/>
          <p:nvPr/>
        </p:nvSpPr>
        <p:spPr>
          <a:xfrm>
            <a:off x="0" y="-27878"/>
            <a:ext cx="1808252" cy="646331"/>
          </a:xfrm>
          <a:prstGeom prst="rect">
            <a:avLst/>
          </a:prstGeom>
          <a:noFill/>
        </p:spPr>
        <p:txBody>
          <a:bodyPr wrap="none" rtlCol="0">
            <a:spAutoFit/>
          </a:bodyPr>
          <a:lstStyle/>
          <a:p>
            <a:r>
              <a:rPr lang="en-US" sz="3600">
                <a:solidFill>
                  <a:schemeClr val="accent1"/>
                </a:solidFill>
              </a:rPr>
              <a:t>Working</a:t>
            </a:r>
            <a:endParaRPr lang="en-US" sz="3600" dirty="0">
              <a:solidFill>
                <a:schemeClr val="accent1"/>
              </a:solidFill>
            </a:endParaRPr>
          </a:p>
        </p:txBody>
      </p:sp>
      <p:grpSp>
        <p:nvGrpSpPr>
          <p:cNvPr id="12" name="Group 11">
            <a:extLst>
              <a:ext uri="{FF2B5EF4-FFF2-40B4-BE49-F238E27FC236}">
                <a16:creationId xmlns:a16="http://schemas.microsoft.com/office/drawing/2014/main" id="{7FF340E4-41BF-85C6-7E4F-269D6655011F}"/>
              </a:ext>
            </a:extLst>
          </p:cNvPr>
          <p:cNvGrpSpPr/>
          <p:nvPr/>
        </p:nvGrpSpPr>
        <p:grpSpPr>
          <a:xfrm>
            <a:off x="293025" y="618453"/>
            <a:ext cx="11448452" cy="5375998"/>
            <a:chOff x="293025" y="618453"/>
            <a:chExt cx="11448452" cy="5375998"/>
          </a:xfrm>
        </p:grpSpPr>
        <p:grpSp>
          <p:nvGrpSpPr>
            <p:cNvPr id="8" name="Group 7">
              <a:extLst>
                <a:ext uri="{FF2B5EF4-FFF2-40B4-BE49-F238E27FC236}">
                  <a16:creationId xmlns:a16="http://schemas.microsoft.com/office/drawing/2014/main" id="{9A7D2334-F267-8842-AEAA-7B6C7D396C66}"/>
                </a:ext>
              </a:extLst>
            </p:cNvPr>
            <p:cNvGrpSpPr/>
            <p:nvPr/>
          </p:nvGrpSpPr>
          <p:grpSpPr>
            <a:xfrm>
              <a:off x="293025" y="618453"/>
              <a:ext cx="5592428" cy="4864299"/>
              <a:chOff x="433946" y="1003843"/>
              <a:chExt cx="5592428" cy="4864299"/>
            </a:xfrm>
          </p:grpSpPr>
          <p:pic>
            <p:nvPicPr>
              <p:cNvPr id="5" name="Picture 4">
                <a:extLst>
                  <a:ext uri="{FF2B5EF4-FFF2-40B4-BE49-F238E27FC236}">
                    <a16:creationId xmlns:a16="http://schemas.microsoft.com/office/drawing/2014/main" id="{75C2C3CE-EDD1-9051-8AEB-102C72CA56BC}"/>
                  </a:ext>
                </a:extLst>
              </p:cNvPr>
              <p:cNvPicPr>
                <a:picLocks noChangeAspect="1"/>
              </p:cNvPicPr>
              <p:nvPr/>
            </p:nvPicPr>
            <p:blipFill>
              <a:blip r:embed="rId2"/>
              <a:stretch>
                <a:fillRect/>
              </a:stretch>
            </p:blipFill>
            <p:spPr>
              <a:xfrm>
                <a:off x="433946" y="1403953"/>
                <a:ext cx="5331584" cy="4464189"/>
              </a:xfrm>
              <a:prstGeom prst="rect">
                <a:avLst/>
              </a:prstGeom>
            </p:spPr>
          </p:pic>
          <p:sp>
            <p:nvSpPr>
              <p:cNvPr id="7" name="TextBox 6">
                <a:extLst>
                  <a:ext uri="{FF2B5EF4-FFF2-40B4-BE49-F238E27FC236}">
                    <a16:creationId xmlns:a16="http://schemas.microsoft.com/office/drawing/2014/main" id="{30A2829F-1075-C7C0-0312-E3A3617AA2E7}"/>
                  </a:ext>
                </a:extLst>
              </p:cNvPr>
              <p:cNvSpPr txBox="1"/>
              <p:nvPr/>
            </p:nvSpPr>
            <p:spPr>
              <a:xfrm>
                <a:off x="433946" y="1003843"/>
                <a:ext cx="5592428" cy="400110"/>
              </a:xfrm>
              <a:prstGeom prst="rect">
                <a:avLst/>
              </a:prstGeom>
              <a:noFill/>
            </p:spPr>
            <p:txBody>
              <a:bodyPr wrap="none" rtlCol="0">
                <a:spAutoFit/>
              </a:bodyPr>
              <a:lstStyle/>
              <a:p>
                <a:r>
                  <a:rPr lang="en-US" sz="2000" dirty="0"/>
                  <a:t>Fill the form using LLM then check and click build</a:t>
                </a:r>
              </a:p>
            </p:txBody>
          </p:sp>
        </p:grpSp>
        <p:pic>
          <p:nvPicPr>
            <p:cNvPr id="9" name="Picture 8">
              <a:extLst>
                <a:ext uri="{FF2B5EF4-FFF2-40B4-BE49-F238E27FC236}">
                  <a16:creationId xmlns:a16="http://schemas.microsoft.com/office/drawing/2014/main" id="{4C7BF0A4-FB2C-E1FD-9D15-09CCCEDE7082}"/>
                </a:ext>
              </a:extLst>
            </p:cNvPr>
            <p:cNvPicPr>
              <a:picLocks noChangeAspect="1"/>
            </p:cNvPicPr>
            <p:nvPr/>
          </p:nvPicPr>
          <p:blipFill>
            <a:blip r:embed="rId3"/>
            <a:stretch>
              <a:fillRect/>
            </a:stretch>
          </p:blipFill>
          <p:spPr>
            <a:xfrm>
              <a:off x="6432546" y="686471"/>
              <a:ext cx="3709104" cy="5307980"/>
            </a:xfrm>
            <a:prstGeom prst="rect">
              <a:avLst/>
            </a:prstGeom>
          </p:spPr>
        </p:pic>
        <p:sp>
          <p:nvSpPr>
            <p:cNvPr id="10" name="TextBox 9">
              <a:extLst>
                <a:ext uri="{FF2B5EF4-FFF2-40B4-BE49-F238E27FC236}">
                  <a16:creationId xmlns:a16="http://schemas.microsoft.com/office/drawing/2014/main" id="{853932A7-4149-09BF-9F9B-303AF78EBAC9}"/>
                </a:ext>
              </a:extLst>
            </p:cNvPr>
            <p:cNvSpPr txBox="1"/>
            <p:nvPr/>
          </p:nvSpPr>
          <p:spPr>
            <a:xfrm>
              <a:off x="9227968" y="3899024"/>
              <a:ext cx="2513509" cy="369332"/>
            </a:xfrm>
            <a:prstGeom prst="rect">
              <a:avLst/>
            </a:prstGeom>
            <a:solidFill>
              <a:schemeClr val="accent2"/>
            </a:solidFill>
          </p:spPr>
          <p:txBody>
            <a:bodyPr wrap="none" rtlCol="0">
              <a:spAutoFit/>
            </a:bodyPr>
            <a:lstStyle/>
            <a:p>
              <a:r>
                <a:rPr lang="en-US" dirty="0"/>
                <a:t>A perfect SQS structure</a:t>
              </a:r>
            </a:p>
          </p:txBody>
        </p:sp>
        <p:sp>
          <p:nvSpPr>
            <p:cNvPr id="11" name="Up Arrow 10">
              <a:extLst>
                <a:ext uri="{FF2B5EF4-FFF2-40B4-BE49-F238E27FC236}">
                  <a16:creationId xmlns:a16="http://schemas.microsoft.com/office/drawing/2014/main" id="{424E0B29-823E-C0FE-3C9D-5EA7D3C046B2}"/>
                </a:ext>
              </a:extLst>
            </p:cNvPr>
            <p:cNvSpPr/>
            <p:nvPr/>
          </p:nvSpPr>
          <p:spPr>
            <a:xfrm rot="18199743">
              <a:off x="9259008" y="3275176"/>
              <a:ext cx="215339" cy="689132"/>
            </a:xfrm>
            <a:prstGeom prst="upArrow">
              <a:avLst>
                <a:gd name="adj1" fmla="val 65190"/>
                <a:gd name="adj2" fmla="val 5000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7320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83406E-C086-7C1D-F263-79AE9B256365}"/>
              </a:ext>
            </a:extLst>
          </p:cNvPr>
          <p:cNvSpPr txBox="1"/>
          <p:nvPr/>
        </p:nvSpPr>
        <p:spPr>
          <a:xfrm>
            <a:off x="0" y="0"/>
            <a:ext cx="7402155" cy="584775"/>
          </a:xfrm>
          <a:prstGeom prst="rect">
            <a:avLst/>
          </a:prstGeom>
          <a:noFill/>
        </p:spPr>
        <p:txBody>
          <a:bodyPr wrap="none" rtlCol="0">
            <a:spAutoFit/>
          </a:bodyPr>
          <a:lstStyle/>
          <a:p>
            <a:r>
              <a:rPr lang="en-US" sz="3200" dirty="0">
                <a:solidFill>
                  <a:schemeClr val="accent1"/>
                </a:solidFill>
              </a:rPr>
              <a:t>WC comparison for W10 with vacancies: </a:t>
            </a:r>
          </a:p>
        </p:txBody>
      </p:sp>
      <p:sp>
        <p:nvSpPr>
          <p:cNvPr id="6" name="TextBox 5">
            <a:extLst>
              <a:ext uri="{FF2B5EF4-FFF2-40B4-BE49-F238E27FC236}">
                <a16:creationId xmlns:a16="http://schemas.microsoft.com/office/drawing/2014/main" id="{A1178E9E-9D43-5BED-880E-73B3D19453BE}"/>
              </a:ext>
            </a:extLst>
          </p:cNvPr>
          <p:cNvSpPr txBox="1"/>
          <p:nvPr/>
        </p:nvSpPr>
        <p:spPr>
          <a:xfrm>
            <a:off x="10723328" y="6488668"/>
            <a:ext cx="1468672" cy="369332"/>
          </a:xfrm>
          <a:prstGeom prst="rect">
            <a:avLst/>
          </a:prstGeom>
          <a:noFill/>
        </p:spPr>
        <p:txBody>
          <a:bodyPr wrap="none" rtlCol="0">
            <a:spAutoFit/>
          </a:bodyPr>
          <a:lstStyle/>
          <a:p>
            <a:r>
              <a:rPr lang="en-US" dirty="0"/>
              <a:t>9</a:t>
            </a:r>
            <a:r>
              <a:rPr lang="en-US" baseline="30000" dirty="0"/>
              <a:t>th</a:t>
            </a:r>
            <a:r>
              <a:rPr lang="en-US" dirty="0"/>
              <a:t> sept 2026</a:t>
            </a:r>
          </a:p>
        </p:txBody>
      </p:sp>
      <p:pic>
        <p:nvPicPr>
          <p:cNvPr id="7" name="Picture 6">
            <a:extLst>
              <a:ext uri="{FF2B5EF4-FFF2-40B4-BE49-F238E27FC236}">
                <a16:creationId xmlns:a16="http://schemas.microsoft.com/office/drawing/2014/main" id="{2A4F494C-D9FA-B44F-070A-EC9CE2ADA2CA}"/>
              </a:ext>
            </a:extLst>
          </p:cNvPr>
          <p:cNvPicPr>
            <a:picLocks noChangeAspect="1"/>
          </p:cNvPicPr>
          <p:nvPr/>
        </p:nvPicPr>
        <p:blipFill>
          <a:blip r:embed="rId2"/>
          <a:stretch>
            <a:fillRect/>
          </a:stretch>
        </p:blipFill>
        <p:spPr>
          <a:xfrm>
            <a:off x="2988525" y="744628"/>
            <a:ext cx="7411417" cy="4937856"/>
          </a:xfrm>
          <a:prstGeom prst="rect">
            <a:avLst/>
          </a:prstGeom>
        </p:spPr>
      </p:pic>
      <p:sp>
        <p:nvSpPr>
          <p:cNvPr id="9" name="TextBox 8">
            <a:extLst>
              <a:ext uri="{FF2B5EF4-FFF2-40B4-BE49-F238E27FC236}">
                <a16:creationId xmlns:a16="http://schemas.microsoft.com/office/drawing/2014/main" id="{17D69114-2603-5CFD-5E55-04E17B03EA0B}"/>
              </a:ext>
            </a:extLst>
          </p:cNvPr>
          <p:cNvSpPr txBox="1"/>
          <p:nvPr/>
        </p:nvSpPr>
        <p:spPr>
          <a:xfrm>
            <a:off x="142176" y="516653"/>
            <a:ext cx="3169735" cy="830997"/>
          </a:xfrm>
          <a:prstGeom prst="rect">
            <a:avLst/>
          </a:prstGeom>
          <a:noFill/>
        </p:spPr>
        <p:txBody>
          <a:bodyPr wrap="square">
            <a:spAutoFit/>
          </a:bodyPr>
          <a:lstStyle/>
          <a:p>
            <a:r>
              <a:rPr lang="en-US" sz="2400" dirty="0"/>
              <a:t> </a:t>
            </a:r>
            <a:r>
              <a:rPr lang="en-US" sz="2400" dirty="0" err="1"/>
              <a:t>Os</a:t>
            </a:r>
            <a:r>
              <a:rPr lang="en-US" sz="2400" dirty="0"/>
              <a:t>  Re  Vac  Ta  W</a:t>
            </a:r>
            <a:br>
              <a:rPr lang="en-US" sz="2400" dirty="0"/>
            </a:br>
            <a:r>
              <a:rPr lang="en-US" sz="2400" dirty="0"/>
              <a:t>   3   7       4     4  232</a:t>
            </a:r>
          </a:p>
        </p:txBody>
      </p:sp>
      <p:sp>
        <p:nvSpPr>
          <p:cNvPr id="11" name="TextBox 10">
            <a:extLst>
              <a:ext uri="{FF2B5EF4-FFF2-40B4-BE49-F238E27FC236}">
                <a16:creationId xmlns:a16="http://schemas.microsoft.com/office/drawing/2014/main" id="{8BDF98AC-9701-A1AE-0E90-AD8E01835BC0}"/>
              </a:ext>
            </a:extLst>
          </p:cNvPr>
          <p:cNvSpPr txBox="1"/>
          <p:nvPr/>
        </p:nvSpPr>
        <p:spPr>
          <a:xfrm>
            <a:off x="142176" y="5842337"/>
            <a:ext cx="11756175" cy="707886"/>
          </a:xfrm>
          <a:prstGeom prst="rect">
            <a:avLst/>
          </a:prstGeom>
          <a:noFill/>
        </p:spPr>
        <p:txBody>
          <a:bodyPr wrap="square">
            <a:spAutoFit/>
          </a:bodyPr>
          <a:lstStyle/>
          <a:p>
            <a:pPr lvl="0"/>
            <a:r>
              <a:rPr lang="en-US" sz="2000" b="1" dirty="0"/>
              <a:t>Exact Match:</a:t>
            </a:r>
            <a:r>
              <a:rPr lang="en-US" sz="2000" dirty="0"/>
              <a:t> SRO values calculated by </a:t>
            </a:r>
            <a:r>
              <a:rPr lang="en-US" sz="2000" dirty="0" err="1"/>
              <a:t>PyHEA</a:t>
            </a:r>
            <a:r>
              <a:rPr lang="en-US" sz="2000" dirty="0"/>
              <a:t> and inhouse-</a:t>
            </a:r>
            <a:r>
              <a:rPr lang="en-US" sz="2000" dirty="0" err="1"/>
              <a:t>sqsgenerator</a:t>
            </a:r>
            <a:r>
              <a:rPr lang="en-US" sz="2000" dirty="0"/>
              <a:t> are identical across every pair for both the 1st and 2nd coordination shells.</a:t>
            </a:r>
          </a:p>
        </p:txBody>
      </p:sp>
    </p:spTree>
    <p:extLst>
      <p:ext uri="{BB962C8B-B14F-4D97-AF65-F5344CB8AC3E}">
        <p14:creationId xmlns:p14="http://schemas.microsoft.com/office/powerpoint/2010/main" val="41532407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256</Words>
  <Application>Microsoft Macintosh PowerPoint</Application>
  <PresentationFormat>Widescreen</PresentationFormat>
  <Paragraphs>15</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Arora</dc:creator>
  <cp:lastModifiedBy>Gaurav Arora</cp:lastModifiedBy>
  <cp:revision>2</cp:revision>
  <dcterms:created xsi:type="dcterms:W3CDTF">2026-09-09T19:37:47Z</dcterms:created>
  <dcterms:modified xsi:type="dcterms:W3CDTF">2026-09-09T20:00:43Z</dcterms:modified>
</cp:coreProperties>
</file>